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92b99464-bac7-c93a-7fe9-5a5bb5aaacfb}">
          <p14:sldIdLst>
            <p14:sldId id="256"/>
            <p14:sldId id="257"/>
          </p14:sldIdLst>
        </p14:section>
        <p14:section name="Proyección 2027" id="{83992c29-e5ad-67b5-ce65-677146339dc7}">
          <p14:sldIdLst>
            <p14:sldId id="258"/>
            <p14:sldId id="259"/>
          </p14:sldIdLst>
        </p14:section>
        <p14:section name="Oportunidades" id="{14d1c696-f05a-9052-843e-da56e840e2a4}">
          <p14:sldIdLst>
            <p14:sldId id="260"/>
            <p14:sldId id="261"/>
          </p14:sldIdLst>
        </p14:section>
        <p14:section name="México" id="{ad002c04-3e2c-fd34-1208-f5a01fa404fc}">
          <p14:sldIdLst>
            <p14:sldId id="262"/>
          </p14:sldIdLst>
        </p14:section>
        <p14:section name="Nuevos clientes y upselling" id="{5d50d878-c98b-21b6-ea3f-9dd17f8b7ef9}">
          <p14:sldIdLst>
            <p14:sldId id="263"/>
            <p14:sldId id="264"/>
          </p14:sldIdLst>
        </p14:section>
        <p14:section name="Activación" id="{beac1bd7-ad21-3dec-cbd3-3057053235c3}">
          <p14:sldIdLst>
            <p14:sldId id="265"/>
            <p14:sldId id="266"/>
          </p14:sldIdLst>
        </p14:section>
        <p14:section name="SBC Lisbon 2026" id="{299e42a1-0823-8764-dea2-c6b91366f141}">
          <p14:sldIdLst>
            <p14:sldId id="267"/>
            <p14:sldId id="268"/>
          </p14:sldIdLst>
        </p14:section>
        <p14:section name="Plan de acción" id="{912f8bab-089f-fb5f-9240-bb8071f8157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4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420"/>
                </a:solidFill>
                <a:latin typeface="+mn-lt"/>
              </a:rPr>
              <a:t>Ingreso Evolution LATAM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Ganamos</c:v>
                </c:pt>
              </c:strCache>
            </c:strRef>
          </c:tx>
          <c:spPr>
            <a:solidFill>
              <a:srgbClr val="0E3B2E"/>
            </a:solidFill>
            <a:effectLst/>
          </c:spPr>
          <c:invertIfNegative val="0"/>
          <c:dLbls>
            <c:numFmt formatCode="€0.0&quot;M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 objetivo</c:v>
                  </c:pt>
                  <c:pt idx="1">
                    <c:v>Conservador</c:v>
                  </c:pt>
                  <c:pt idx="2">
                    <c:v>Base</c:v>
                  </c:pt>
                  <c:pt idx="3">
                    <c:v>Ambicioso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2.11</c:v>
                </c:pt>
                <c:pt idx="1">
                  <c:v>3.39</c:v>
                </c:pt>
                <c:pt idx="2">
                  <c:v>4.79</c:v>
                </c:pt>
                <c:pt idx="3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Grupo Ganamos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€0.0&quot;M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 objetivo</c:v>
                  </c:pt>
                  <c:pt idx="1">
                    <c:v>Conservador</c:v>
                  </c:pt>
                  <c:pt idx="2">
                    <c:v>Base</c:v>
                  </c:pt>
                  <c:pt idx="3">
                    <c:v>Ambicioso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2.7</c:v>
                </c:pt>
                <c:pt idx="2">
                  <c:v>4.05</c:v>
                </c:pt>
                <c:pt idx="3">
                  <c:v>5.4</c:v>
                </c:pt>
              </c:numCache>
            </c:numRef>
          </c:val>
        </c:ser>
        <c:dLbls>
          <c:numFmt formatCode="€0.0&quot;M&quot;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D9E2DD"/>
              </a:solidFill>
              <a:prstDash val="solid"/>
              <a:round/>
            </a:ln>
          </c:spPr>
        </c:majorGridlines>
        <c:numFmt formatCode="€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Aporte 2027 (€K)</c:v>
                </c:pt>
              </c:strCache>
            </c:strRef>
          </c:tx>
          <c:spPr>
            <a:solidFill>
              <a:srgbClr val="0E3B2E"/>
            </a:solidFill>
            <a:effectLst/>
          </c:spPr>
          <c:invertIfNegative val="0"/>
          <c:dLbls>
            <c:numFmt formatCode="€#,##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Rep. Dominicana</c:v>
                  </c:pt>
                  <c:pt idx="1">
                    <c:v>Paraguay (5 opps)</c:v>
                  </c:pt>
                  <c:pt idx="2">
                    <c:v>Trickless + Quartzplay</c:v>
                  </c:pt>
                  <c:pt idx="3">
                    <c:v>SBC Lisbon (nuevos + upsell)</c:v>
                  </c:pt>
                  <c:pt idx="4">
                    <c:v>Grupo Cirsa / Sportium</c:v>
                  </c:pt>
                  <c:pt idx="5">
                    <c:v>Grupo Distra (PE)</c:v>
                  </c:pt>
                  <c:pt idx="6">
                    <c:v>Bahamas (+100%)</c:v>
                  </c:pt>
                  <c:pt idx="7">
                    <c:v>Resto pipeline</c:v>
                  </c:pt>
                  <c:pt idx="8">
                    <c:v>México (tier estratégico + nuevos)</c:v>
                  </c:pt>
                  <c:pt idx="9">
                    <c:v>Same-store cuentas live</c:v>
                  </c:pt>
                  <c:pt idx="10">
                    <c:v>Grupo Royal (VE)</c:v>
                  </c:pt>
                  <c:pt idx="11">
                    <c:v>Grupo Ganamos (AR)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46</c:v>
                </c:pt>
                <c:pt idx="2">
                  <c:v>48</c:v>
                </c:pt>
                <c:pt idx="3">
                  <c:v>88</c:v>
                </c:pt>
                <c:pt idx="4">
                  <c:v>139</c:v>
                </c:pt>
                <c:pt idx="5">
                  <c:v>260</c:v>
                </c:pt>
                <c:pt idx="6">
                  <c:v>266</c:v>
                </c:pt>
                <c:pt idx="7">
                  <c:v>271</c:v>
                </c:pt>
                <c:pt idx="8">
                  <c:v>358</c:v>
                </c:pt>
                <c:pt idx="9">
                  <c:v>369</c:v>
                </c:pt>
                <c:pt idx="10">
                  <c:v>808</c:v>
                </c:pt>
                <c:pt idx="11">
                  <c:v>4050</c:v>
                </c:pt>
              </c:numCache>
            </c:numRef>
          </c:val>
        </c:ser>
        <c:dLbls>
          <c:numFmt formatCode="€#,##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"/>
        </c:scaling>
        <c:delete val="1"/>
        <c:axPos val="b"/>
        <c:majorGridlines>
          <c:spPr>
            <a:ln w="6350" cap="flat">
              <a:solidFill>
                <a:srgbClr val="D9E2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4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420"/>
                </a:solidFill>
                <a:latin typeface="+mn-lt"/>
              </a:rPr>
              <a:t>Operadores con permiso en México por tipo de oportunidad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Operadores</c:v>
                </c:pt>
              </c:strCache>
            </c:strRef>
          </c:tx>
          <c:spPr>
            <a:solidFill>
              <a:srgbClr val="0E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Upsell Ezugi</c:v>
                  </c:pt>
                  <c:pt idx="1">
                    <c:v>Same-store</c:v>
                  </c:pt>
                  <c:pt idx="2">
                    <c:v>Nuevas entradas</c:v>
                  </c:pt>
                  <c:pt idx="3">
                    <c:v>Reactivación</c:v>
                  </c:pt>
                  <c:pt idx="4">
                    <c:v>Cerrar integración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11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majorGridlines>
          <c:spPr>
            <a:ln w="6350" cap="flat">
              <a:solidFill>
                <a:srgbClr val="D9E2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anualizado</c:v>
                </c:pt>
              </c:strCache>
            </c:strRef>
          </c:tx>
          <c:spPr>
            <a:solidFill>
              <a:srgbClr val="7FA894"/>
            </a:solidFill>
            <a:effectLst/>
          </c:spPr>
          <c:invertIfNegative val="0"/>
          <c:dLbls>
            <c:numFmt formatCode="€#,##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Phoenix 365</c:v>
                  </c:pt>
                  <c:pt idx="1">
                    <c:v>Meridianbet PE</c:v>
                  </c:pt>
                  <c:pt idx="2">
                    <c:v>Island Games</c:v>
                  </c:pt>
                  <c:pt idx="3">
                    <c:v>Tinbet</c:v>
                  </c:pt>
                  <c:pt idx="4">
                    <c:v>Paradise Games</c:v>
                  </c:pt>
                  <c:pt idx="5">
                    <c:v>Palmsbet</c:v>
                  </c:pt>
                  <c:pt idx="6">
                    <c:v>Winland</c:v>
                  </c:pt>
                  <c:pt idx="7">
                    <c:v>Betara</c:v>
                  </c:pt>
                  <c:pt idx="8">
                    <c:v>Meridianbet BR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424</c:v>
                </c:pt>
                <c:pt idx="1">
                  <c:v>397</c:v>
                </c:pt>
                <c:pt idx="2">
                  <c:v>186</c:v>
                </c:pt>
                <c:pt idx="3">
                  <c:v>178</c:v>
                </c:pt>
                <c:pt idx="4">
                  <c:v>79</c:v>
                </c:pt>
                <c:pt idx="5">
                  <c:v>86</c:v>
                </c:pt>
                <c:pt idx="6">
                  <c:v>74</c:v>
                </c:pt>
                <c:pt idx="7">
                  <c:v>50</c:v>
                </c:pt>
                <c:pt idx="8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Objetivo 2027</c:v>
                </c:pt>
              </c:strCache>
            </c:strRef>
          </c:tx>
          <c:spPr>
            <a:solidFill>
              <a:srgbClr val="0E3B2E"/>
            </a:solidFill>
            <a:effectLst/>
          </c:spPr>
          <c:invertIfNegative val="0"/>
          <c:dLbls>
            <c:numFmt formatCode="€#,##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Phoenix 365</c:v>
                  </c:pt>
                  <c:pt idx="1">
                    <c:v>Meridianbet PE</c:v>
                  </c:pt>
                  <c:pt idx="2">
                    <c:v>Island Games</c:v>
                  </c:pt>
                  <c:pt idx="3">
                    <c:v>Tinbet</c:v>
                  </c:pt>
                  <c:pt idx="4">
                    <c:v>Paradise Games</c:v>
                  </c:pt>
                  <c:pt idx="5">
                    <c:v>Palmsbet</c:v>
                  </c:pt>
                  <c:pt idx="6">
                    <c:v>Winland</c:v>
                  </c:pt>
                  <c:pt idx="7">
                    <c:v>Betara</c:v>
                  </c:pt>
                  <c:pt idx="8">
                    <c:v>Meridianbet BR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510</c:v>
                </c:pt>
                <c:pt idx="1">
                  <c:v>477</c:v>
                </c:pt>
                <c:pt idx="2">
                  <c:v>373</c:v>
                </c:pt>
                <c:pt idx="3">
                  <c:v>222</c:v>
                </c:pt>
                <c:pt idx="4">
                  <c:v>158</c:v>
                </c:pt>
                <c:pt idx="5">
                  <c:v>129</c:v>
                </c:pt>
                <c:pt idx="6">
                  <c:v>111</c:v>
                </c:pt>
                <c:pt idx="7">
                  <c:v>99</c:v>
                </c:pt>
                <c:pt idx="8">
                  <c:v>58</c:v>
                </c:pt>
              </c:numCache>
            </c:numRef>
          </c:val>
        </c:ser>
        <c:dLbls>
          <c:numFmt formatCode="€#,##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</c:scaling>
        <c:delete val="1"/>
        <c:axPos val="b"/>
        <c:majorGridlines>
          <c:spPr>
            <a:ln w="6350" cap="flat">
              <a:solidFill>
                <a:srgbClr val="D9E2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2027 basado en Hot_Leads (corte octubre 2026), PGS 2026 Sales Report, estrategia México 2025-2027 e información comercial del equipo LATAM.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el plan 2027 es muy superior al 2026 gracias a cuatro grupos nuevos, pero concentra riesgo en Ganamos. Fuera del plan: Brasil, Caliente (bajo potencial), WinOnFire y Lanistar.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hoja Mexico del archivo de oportunidades (estado Evolution/Ezugi por operador). Valores de nuevos deals +200% y tier estratégico x3 según lineamiento del Head of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Responsables: KAM ejecuta; Sales LATAM escala lo comercial; Tech/Integraciones hace el tracking semanal.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meeting notes SBC Lisbon 2026. Ninguna de estas oportunidades tenía valor en las notas; se asignaron valores estándar para sumarlas al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 completo con responsable y estado en la pestaña Action items SBC Lisbon del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estas confirmaciones se cierra la proyección final y se actualiza Hot_Leads.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600"/>
              </a:spcAft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spcAft>
                <a:spcPts val="600"/>
              </a:spcAft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4"/>
                </a:solidFill>
              </a:rPr>
              <a:t>Evolution LATAM · Plan de crecimiento 2027 · Confidencial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Evolution LATAM — Plan de crecimiento 2027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Oportunidades, main accounts, México como mercado meta, upselling y activación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Sales &amp; Business Development LATAM &amp; Caribbean · Octubre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2027: el negocio LATAM puede multiplicarse por 4,2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548640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€8,8M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ingreso Evolution 2027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(escenario base)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3364992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+319%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vs. objetivo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(€2,11M)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6181344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 ingreso 2027 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main opportunities</a:t>
            </a:r>
            <a:endParaRPr lang="en-US" sz="1400" dirty="0"/>
          </a:p>
        </p:txBody>
      </p:sp>
      <p:sp>
        <p:nvSpPr>
          <p:cNvPr id="12" name="stat3"/>
          <p:cNvSpPr/>
          <p:nvPr/>
        </p:nvSpPr>
        <p:spPr>
          <a:xfrm>
            <a:off x="8997696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depende solo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Grupo Ganamos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Rango 2027: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€6,1M (conservador) a €11,9M (ambicioso); sin Ganamos, €4,8M en el escenario base (+127%).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México es el mercado meta: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17 operadores para upsell de Ezugi, 5 nuevas entradas y 5 casinos a reactivar.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Base live: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9 cuentas pasan de €1,53M a €2,14M (+40%) con un plan por cuenta.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Activación: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7 cuentas "Live" no facturan; nueva regla y playbook firma → ingreso en 90 días.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Tres escenarios: Ganamos explica casi la mitad del plan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es"/>
          <p:cNvSpPr/>
          <p:nvPr/>
        </p:nvSpPr>
        <p:spPr>
          <a:xfrm>
            <a:off x="7863840" y="1280160"/>
            <a:ext cx="3749040" cy="493776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leerlo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6596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Base: €8,8M (+319%) con Ganamos al 9% y al 75% de su ritmo anual.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Ganamos, el plan igual crece +127% en el escenario base.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Supuesto clave: GGR del operador × take rate (11%; Ganamos 9%).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Estimaciones con supuestos explícitos, no un forecast contable.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€2,1M a €8,8M: de dónde sale el crecimiento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68096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se"/>
          <p:cNvSpPr/>
          <p:nvPr/>
        </p:nvSpPr>
        <p:spPr>
          <a:xfrm>
            <a:off x="8595360" y="1280160"/>
            <a:ext cx="301752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2396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€2,11M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base 2026 (objetivo PGS)</a:t>
            </a:r>
            <a:endParaRPr lang="en-US" sz="1400" dirty="0"/>
          </a:p>
        </p:txBody>
      </p:sp>
      <p:sp>
        <p:nvSpPr>
          <p:cNvPr id="7" name="total"/>
          <p:cNvSpPr/>
          <p:nvPr/>
        </p:nvSpPr>
        <p:spPr>
          <a:xfrm>
            <a:off x="8595360" y="3703320"/>
            <a:ext cx="3017520" cy="2560320"/>
          </a:xfrm>
          <a:prstGeom prst="roundRect">
            <a:avLst>
              <a:gd name="adj" fmla="val 2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3886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+€6,73M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617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crecimiento incremental 2027, de los cuales €4,9M vienen de Ganamos y Grupo Royal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 main opportunities: 59% del ingreso 2027</a:t>
            </a:r>
            <a:endParaRPr lang="en-US" sz="3000" dirty="0"/>
          </a:p>
        </p:txBody>
      </p:sp>
      <p:sp>
        <p:nvSpPr>
          <p:cNvPr id="3" name="mo0"/>
          <p:cNvSpPr/>
          <p:nvPr/>
        </p:nvSpPr>
        <p:spPr>
          <a:xfrm>
            <a:off x="548640" y="1325880"/>
            <a:ext cx="2606040" cy="48920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Ganamos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Argentina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€5M GGR / mes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≈ €5,4M ingreso Evo / año (9%)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Estado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Próximo a salir en vivo. Pide 8%; hoy solo Ezugi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Siguiente paso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Validar GGR y share Pragmatic, cerrar take rate y go-live</a:t>
            </a:r>
            <a:endParaRPr lang="en-US" sz="1300" dirty="0"/>
          </a:p>
        </p:txBody>
      </p:sp>
      <p:sp>
        <p:nvSpPr>
          <p:cNvPr id="12" name="mo1"/>
          <p:cNvSpPr/>
          <p:nvPr/>
        </p:nvSpPr>
        <p:spPr>
          <a:xfrm>
            <a:off x="3364992" y="1325880"/>
            <a:ext cx="2606040" cy="48920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Royal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Venezuela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€1,5M GGR / mes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≈ €2,0M ingreso Evo / año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Estado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#1 en Venezuela. Contrato y DD pendientes (Daniel Nunes)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Siguiente paso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Acuerdo de grupo para ambas marcas; live a más tardar Q2</a:t>
            </a:r>
            <a:endParaRPr lang="en-US" sz="1300" dirty="0"/>
          </a:p>
        </p:txBody>
      </p:sp>
      <p:sp>
        <p:nvSpPr>
          <p:cNvPr id="21" name="mo2"/>
          <p:cNvSpPr/>
          <p:nvPr/>
        </p:nvSpPr>
        <p:spPr>
          <a:xfrm>
            <a:off x="6181344" y="1325880"/>
            <a:ext cx="2606040" cy="4892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Distra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Perú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€350K GGR / mes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desde Q2 2027 · ≈ €460K / año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Estado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Legal-Evo desde el 14 de septiembre, sin respuesta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Siguiente paso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Desbloquear Legal e integrar en Q1 2027</a:t>
            </a:r>
            <a:endParaRPr lang="en-US" sz="1300" dirty="0"/>
          </a:p>
        </p:txBody>
      </p:sp>
      <p:sp>
        <p:nvSpPr>
          <p:cNvPr id="30" name="mo3"/>
          <p:cNvSpPr/>
          <p:nvPr/>
        </p:nvSpPr>
        <p:spPr>
          <a:xfrm>
            <a:off x="8997696" y="1325880"/>
            <a:ext cx="2606040" cy="4892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9886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Cirsa / Sportium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Panamá · Colombia · México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$350K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oportunidad multi-mercado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Estado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Compliance y Legal; master agreement creado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198864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Siguiente paso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Firmar y desplegar en secuencia PA → CO → MX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riesgo está en el calendario: cada mes de retraso cuesta</a:t>
            </a:r>
            <a:endParaRPr lang="en-US" sz="3000" dirty="0"/>
          </a:p>
        </p:txBody>
      </p:sp>
      <p:sp>
        <p:nvSpPr>
          <p:cNvPr id="3" name="risk0"/>
          <p:cNvSpPr/>
          <p:nvPr/>
        </p:nvSpPr>
        <p:spPr>
          <a:xfrm>
            <a:off x="54864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–€450K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cada mes de retraso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Ganamos</a:t>
            </a:r>
            <a:endParaRPr lang="en-US" sz="1400" dirty="0"/>
          </a:p>
        </p:txBody>
      </p:sp>
      <p:sp>
        <p:nvSpPr>
          <p:cNvPr id="6" name="risk1"/>
          <p:cNvSpPr/>
          <p:nvPr/>
        </p:nvSpPr>
        <p:spPr>
          <a:xfrm>
            <a:off x="3364992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–€115K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cada mes de retraso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Grupo Royal</a:t>
            </a:r>
            <a:endParaRPr lang="en-US" sz="1400" dirty="0"/>
          </a:p>
        </p:txBody>
      </p:sp>
      <p:sp>
        <p:nvSpPr>
          <p:cNvPr id="9" name="risk2"/>
          <p:cNvSpPr/>
          <p:nvPr/>
        </p:nvSpPr>
        <p:spPr>
          <a:xfrm>
            <a:off x="6181344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–€29K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cada mes de retraso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Grupo Distra</a:t>
            </a:r>
            <a:endParaRPr lang="en-US" sz="1400" dirty="0"/>
          </a:p>
        </p:txBody>
      </p:sp>
      <p:sp>
        <p:nvSpPr>
          <p:cNvPr id="12" name="risk3"/>
          <p:cNvSpPr/>
          <p:nvPr/>
        </p:nvSpPr>
        <p:spPr>
          <a:xfrm>
            <a:off x="8997696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–€450K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cada punto de take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 en Ganamos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Mitigación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War-room semanal Ganamos + Royal con Tech/Integraciones hasta el go-live y los primeros 90 días.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Negociar tramos de take rate por volumen antes del go-live, no después.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Diversificar: México, Distra y Cirsa/Sportium sostienen +127% aun sin Ganamos.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Seguimiento mensual de rampa vs. plan, con alertas a los 30 días.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México, mercado meta: whitespace en Ezugi y nuevas entradas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Upsell Ezugi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Betsson, Rushbet, Betway, Betcris, Mexbet, Netabet, Novibet, Winpot, Betmexico y 8 más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048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Nuevas entradas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322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Codere, Bet365, Big Bola, Spin Casino, 247bet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Reactivación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090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Vale.mx, Superplay, Mustang Money, Cybersoft, Crown City Bets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Pipeline nuevo (+200%)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858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Zlot $66K · Vegas Live $105K · Sportium MX (Cirsa)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352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Bajo potencial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626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Caliente / Winner: contacto oportunista</a:t>
            </a:r>
            <a:endParaRPr lang="en-US" sz="1300" dirty="0"/>
          </a:p>
        </p:txBody>
      </p:sp>
      <p:sp>
        <p:nvSpPr>
          <p:cNvPr id="14" name="mxk0"/>
          <p:cNvSpPr/>
          <p:nvPr/>
        </p:nvSpPr>
        <p:spPr>
          <a:xfrm>
            <a:off x="548640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330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→ 62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33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operadores con Evolution</a:t>
            </a:r>
            <a:endParaRPr lang="en-US" sz="1300" dirty="0"/>
          </a:p>
        </p:txBody>
      </p:sp>
      <p:sp>
        <p:nvSpPr>
          <p:cNvPr id="17" name="mxk1"/>
          <p:cNvSpPr/>
          <p:nvPr/>
        </p:nvSpPr>
        <p:spPr>
          <a:xfrm>
            <a:off x="3364992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47872" y="5330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547872" y="5833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operadores con Ezugi</a:t>
            </a:r>
            <a:endParaRPr lang="en-US" sz="1300" dirty="0"/>
          </a:p>
        </p:txBody>
      </p:sp>
      <p:sp>
        <p:nvSpPr>
          <p:cNvPr id="20" name="mxk2"/>
          <p:cNvSpPr/>
          <p:nvPr/>
        </p:nvSpPr>
        <p:spPr>
          <a:xfrm>
            <a:off x="6181344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4224" y="5330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364224" y="5833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nuevas entradas (Codere +2)</a:t>
            </a:r>
            <a:endParaRPr lang="en-US" sz="1300" dirty="0"/>
          </a:p>
        </p:txBody>
      </p:sp>
      <p:sp>
        <p:nvSpPr>
          <p:cNvPr id="23" name="mxk3"/>
          <p:cNvSpPr/>
          <p:nvPr/>
        </p:nvSpPr>
        <p:spPr>
          <a:xfrm>
            <a:off x="8997696" y="52578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80576" y="5330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€358K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9180576" y="5833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ingreso incremental (base)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Nuevos clientes: prioridades de cierre por mercado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155448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Siguiente paso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Zlot, Vegas Live, Sportium MX + tier estratégico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$171K + Cirsa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 en Legal en Q4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Paraguay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opps &gt; €50K (EGT Digital, JOKER SA, CELEXPAR, Pokermoon, SES SA — a confirmar)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nombres y enviar propuestas 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Panamá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Agreegain (DD completo), Sportium 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 + Cirsa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Desbloquear Evo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Rep. Dominicana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Loteka; Breeze sale en vivo vía 3rd party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Breeze y firma Loteka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Quartzplay (licencia OK), BetSolute–Mr Joker, Sportium 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$66K + Cirsa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Puesta en marcha Quartzplay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B2B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Trickless (+150%), Blokotech, Wizma, Radical Investment, Torrero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de firmas 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Bahamas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Chances (valor +100%)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con game shows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Descartados: WinOnFire y Lanistar (no avanzaron) · Brasil fuera del plan · Caliente.pe bajo potencial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Cuentas live: de €1,53M a €2,14M en 2027 (+40%)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Phoenix 365 (+20%)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554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Frenar caída (€63K may → €18K ago), Evolution en todas las skins, renovar contrato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Meridianbet PE (+20%)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377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Torneos Red Tiger mensuales, game shows, QBR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Bahamas (+100%)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Spin gifts, torneos, video promo, mesa branded en inglés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Betara (+100%)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Mesa dedicada de blackjack, NLC, top position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Winland (+50%)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846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Casino físico + online, slot branded NLC, botón Go Live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394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MasterBet365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5669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Acuerdo directo y crecimiento fuerte: fijar objetivo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Activación: 7 cuentas "Live" no facturan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384048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raíz (según notas)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Betaltoke (PE)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dice "follow up prop": no está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Reclasificar a negociación y cerrar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Sports.bet ×2 (AR)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Firmado; DD con documentos faltantes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 DD → integración → go-live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TioRico (PE)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Terminación legal solicitada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actividad; cerrar o renegociar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Betxico (MX)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incompleto; ingresos no reportados vía Vibra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Completar catálogo MX y revisar reporte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Ganabet (MX)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licencia deportiva; problema de plataforma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licencia de casino y plataforma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Jokerbet (PE)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Introducción 25/09; juegos en asignación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Asignación, lobby y promo de lanzamiento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Listobet / Jugafacil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Firmados nov 2025, sin integración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 técnico o pasar a On 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Playbook: de firmado a primer ingreso en 90 días o menos</a:t>
            </a:r>
            <a:endParaRPr lang="en-US" sz="3000" dirty="0"/>
          </a:p>
        </p:txBody>
      </p:sp>
      <p:sp>
        <p:nvSpPr>
          <p:cNvPr id="3" name="step0"/>
          <p:cNvSpPr/>
          <p:nvPr/>
        </p:nvSpPr>
        <p:spPr>
          <a:xfrm>
            <a:off x="548640" y="137160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"Live"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con integración certificada, juegos asignados y primera factura</a:t>
            </a:r>
            <a:endParaRPr lang="en-US" sz="1300" dirty="0"/>
          </a:p>
        </p:txBody>
      </p:sp>
      <p:sp>
        <p:nvSpPr>
          <p:cNvPr id="8" name="step1"/>
          <p:cNvSpPr/>
          <p:nvPr/>
        </p:nvSpPr>
        <p:spPr>
          <a:xfrm>
            <a:off x="2798064" y="137160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80944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6060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Semana 0: chat de integración, credenciales BO/SD, catálogo y fecha</a:t>
            </a:r>
            <a:endParaRPr lang="en-US" sz="1300" dirty="0"/>
          </a:p>
        </p:txBody>
      </p:sp>
      <p:sp>
        <p:nvSpPr>
          <p:cNvPr id="13" name="step2"/>
          <p:cNvSpPr/>
          <p:nvPr/>
        </p:nvSpPr>
        <p:spPr>
          <a:xfrm>
            <a:off x="5047488" y="137160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6060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Semanas 1–8: tracking semanal; alerta a 30 días sin avance, escalar a 60</a:t>
            </a:r>
            <a:endParaRPr lang="en-US" sz="1300" dirty="0"/>
          </a:p>
        </p:txBody>
      </p:sp>
      <p:sp>
        <p:nvSpPr>
          <p:cNvPr id="18" name="step3"/>
          <p:cNvSpPr/>
          <p:nvPr/>
        </p:nvSpPr>
        <p:spPr>
          <a:xfrm>
            <a:off x="7296912" y="137160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7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26060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Lobby, botón Go Live, promo de lanzamiento, training BO y promociones</a:t>
            </a:r>
            <a:endParaRPr lang="en-US" sz="1300" dirty="0"/>
          </a:p>
        </p:txBody>
      </p:sp>
      <p:sp>
        <p:nvSpPr>
          <p:cNvPr id="23" name="step4"/>
          <p:cNvSpPr/>
          <p:nvPr/>
        </p:nvSpPr>
        <p:spPr>
          <a:xfrm>
            <a:off x="9546336" y="137160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29216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92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Post-live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6060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Días 1–30: GGR semanal; si es cero al día 30, diagnóstico</a:t>
            </a:r>
            <a:endParaRPr lang="en-US" sz="1300" dirty="0"/>
          </a:p>
        </p:txBody>
      </p:sp>
      <p:sp>
        <p:nvSpPr>
          <p:cNvPr id="28" name="kpi0"/>
          <p:cNvSpPr/>
          <p:nvPr/>
        </p:nvSpPr>
        <p:spPr>
          <a:xfrm>
            <a:off x="548640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864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90 días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468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firmado → live</a:t>
            </a:r>
            <a:endParaRPr lang="en-US" sz="1300" dirty="0"/>
          </a:p>
        </p:txBody>
      </p:sp>
      <p:sp>
        <p:nvSpPr>
          <p:cNvPr id="31" name="kpi1"/>
          <p:cNvSpPr/>
          <p:nvPr/>
        </p:nvSpPr>
        <p:spPr>
          <a:xfrm>
            <a:off x="3364992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4864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30 días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468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live → primera factura</a:t>
            </a:r>
            <a:endParaRPr lang="en-US" sz="1300" dirty="0"/>
          </a:p>
        </p:txBody>
      </p:sp>
      <p:sp>
        <p:nvSpPr>
          <p:cNvPr id="34" name="kpi2"/>
          <p:cNvSpPr/>
          <p:nvPr/>
        </p:nvSpPr>
        <p:spPr>
          <a:xfrm>
            <a:off x="6181344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4864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5468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cuentas live con GGR cero</a:t>
            </a:r>
            <a:endParaRPr lang="en-US" sz="1300" dirty="0"/>
          </a:p>
        </p:txBody>
      </p:sp>
      <p:sp>
        <p:nvSpPr>
          <p:cNvPr id="37" name="kpi3"/>
          <p:cNvSpPr/>
          <p:nvPr/>
        </p:nvSpPr>
        <p:spPr>
          <a:xfrm>
            <a:off x="8997696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98864" y="4864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9198864" y="5468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integraciones estancadas &gt; 90 días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SBC Lisbon: 12 oportunidades nuevas suman €365K al plan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371600"/>
                <a:gridCol w="1097280"/>
                <a:gridCol w="4389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 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acuerdo directo para expandirse en 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Betstarters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de Tinbet; fee de integración EUR 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VirtualSoft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Ruleta personalizada por posicionamiento; sin setup ni OPEX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Olimpobet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confirmar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 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Ruleta personalizada multi-marca; CAPEX parcial del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GameMedia / Betzar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 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Exclusividad Live a cambio de sin setup ni mínimo 12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BRBet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Salvador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 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Expansión a El Salvador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 n Play · RumbaWin · Juegatelo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Venezuela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 logos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Venezuela junto a Grupo Royal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Apuesta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#1 Perú: omnicanal, mesas, deuda y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 → Perú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dedicada, nuevas marcas y entrada a Perú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confirmar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Promociones, ruletas y microlímites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Valores estimados por confirmar: $25K por operador nuevo (promedio Hot_Leads), $35–50K para plataformas y grupos. Aporte 2027: €62K / €88K / €142K.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SBC Lisbon: prioridades inmediatas</a:t>
            </a:r>
            <a:endParaRPr lang="en-US" sz="3000" dirty="0"/>
          </a:p>
        </p:txBody>
      </p:sp>
      <p:sp>
        <p:nvSpPr>
          <p:cNvPr id="3" name="p0"/>
          <p:cNvSpPr/>
          <p:nvPr/>
        </p:nvSpPr>
        <p:spPr>
          <a:xfrm>
            <a:off x="54864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84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Contratos, lanzamientos y finanzas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MasterBet365: contrato, DD y Promo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Apuestas Royal: contrato y DD con Daniel Nunes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Betsolute: lanzamiento Colombia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Tinbet: despliegue de Promo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Apuesta Total: deuda y mesas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Groove / Tucanbit: nota de crédito</a:t>
            </a:r>
            <a:endParaRPr lang="en-US" sz="1500" dirty="0"/>
          </a:p>
        </p:txBody>
      </p:sp>
      <p:sp>
        <p:nvSpPr>
          <p:cNvPr id="7" name="p1"/>
          <p:cNvSpPr/>
          <p:nvPr/>
        </p:nvSpPr>
        <p:spPr>
          <a:xfrm>
            <a:off x="42976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 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984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Propuestas y activación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Ganamos: validar GGR y take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Palmsbet: Chroma, slots, Halloween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Betstarters: fee EUR 5.000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Bet4win, VirtualSoft, Olimpobet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GameMedia / Betzar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Jugamax y Betboom (Maite)</a:t>
            </a:r>
            <a:endParaRPr lang="en-US" sz="1500" dirty="0"/>
          </a:p>
        </p:txBody>
      </p:sp>
      <p:sp>
        <p:nvSpPr>
          <p:cNvPr id="11" name="p2"/>
          <p:cNvSpPr/>
          <p:nvPr/>
        </p:nvSpPr>
        <p:spPr>
          <a:xfrm>
            <a:off x="804672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 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984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Expansión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Winpot: mesa dedicada y Perú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BRBet: El Salvador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Zenit: acuerdo directo LATAM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 n Play y pipeline Venezuela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Torrero: procesos abiertos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Betsolute: pipeline regional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 de acción 2027 por trimestre</a:t>
            </a:r>
            <a:endParaRPr lang="en-US" sz="3000" dirty="0"/>
          </a:p>
        </p:txBody>
      </p:sp>
      <p:sp>
        <p:nvSpPr>
          <p:cNvPr id="3" name="q0"/>
          <p:cNvSpPr/>
          <p:nvPr/>
        </p:nvSpPr>
        <p:spPr>
          <a:xfrm>
            <a:off x="54864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Go-live Ganamos + war-room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DD Apuestas Royal; alta GoGo Royal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Desbloquear Distra y firmar Cirsa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Ejecutar plan de activación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Agreegain, Loteka, Breeze, Quartzplay</a:t>
            </a:r>
            <a:endParaRPr lang="en-US" sz="1500" dirty="0"/>
          </a:p>
        </p:txBody>
      </p:sp>
      <p:sp>
        <p:nvSpPr>
          <p:cNvPr id="6" name="q1"/>
          <p:cNvSpPr/>
          <p:nvPr/>
        </p:nvSpPr>
        <p:spPr>
          <a:xfrm>
            <a:off x="42976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Programa México: Codere + upsell Ezugi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Cerrar Zlot y Vegas Live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Paraguay: confirmar 4–5 opps &gt; €50K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Integración Distra y Trickless (+150%)</a:t>
            </a:r>
            <a:endParaRPr lang="en-US" sz="1500" dirty="0"/>
          </a:p>
        </p:txBody>
      </p:sp>
      <p:sp>
        <p:nvSpPr>
          <p:cNvPr id="9" name="q2"/>
          <p:cNvSpPr/>
          <p:nvPr/>
        </p:nvSpPr>
        <p:spPr>
          <a:xfrm>
            <a:off x="804672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Q2–Q4 2027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9456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Go-live Grupo Royal y Grupo Distra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QBR mensual main opps, trimestral live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2+ mesas dedicadas o branded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Campañas Liga MX y cross-sell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Decisiones y datos pendientes para cerrar el plan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1. Ganamos: cerrar take rate (pide 8%, plan 9%) y validar USD 60M y share de Pragmatic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2. Confirmar las 4–5 oportunidades de Paraguay &gt; €50K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3. GGR actual de MasterBet365 Perú para fijar su objetivo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4. Aprobar la regla "Live = primera factura" y el playbook de 90 días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AM 2027">
  <a:themeElements>
    <a:clrScheme name="LATAM 2027">
      <a:dk1>
        <a:srgbClr val="1D2420"/>
      </a:dk1>
      <a:lt1>
        <a:srgbClr val="FFFFFF"/>
      </a:lt1>
      <a:dk2>
        <a:srgbClr val="0E3B2E"/>
      </a:dk2>
      <a:lt2>
        <a:srgbClr val="EEF3F0"/>
      </a:lt2>
      <a:accent1>
        <a:srgbClr val="0E3B2E"/>
      </a:accent1>
      <a:accent2>
        <a:srgbClr val="C9A227"/>
      </a:accent2>
      <a:accent3>
        <a:srgbClr val="7FA894"/>
      </a:accent3>
      <a:accent4>
        <a:srgbClr val="C8553D"/>
      </a:accent4>
      <a:accent5>
        <a:srgbClr val="3D6B5A"/>
      </a:accent5>
      <a:accent6>
        <a:srgbClr val="A9B8B0"/>
      </a:accent6>
      <a:hlink>
        <a:srgbClr val="0E3B2E"/>
      </a:hlink>
      <a:folHlink>
        <a:srgbClr val="5E6B64"/>
      </a:folHlink>
    </a:clrScheme>
    <a:fontScheme name="LATAM 2027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LATAM — Plan de crecimiento 2027</dc:title>
  <dc:subject>PptxGenJS Presentation</dc:subject>
  <dc:creator>Sales &amp; Business Development LATAM</dc:creator>
  <cp:lastModifiedBy>Sales &amp; Business Development LATAM</cp:lastModifiedBy>
  <cp:revision>1</cp:revision>
  <dcterms:created xsi:type="dcterms:W3CDTF">2026-10-12T20:49:47Z</dcterms:created>
  <dcterms:modified xsi:type="dcterms:W3CDTF">2026-10-12T20:49:47Z</dcterms:modified>
</cp:coreProperties>
</file>